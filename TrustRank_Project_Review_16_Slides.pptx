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669280" cy="36576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6B6D4"/>
                </a:solidFill>
                <a:latin typeface="Arial"/>
              </a:defRPr>
            </a:pPr>
            <a:r>
              <a:t>DEPARTMENT OF INFORMATION TECHNOLOGY  | 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TrustRank: E-Commerce Product Recommendation and Review Analysis System</a:t>
            </a:r>
          </a:p>
          <a:p>
            <a:pPr>
              <a:spcBef>
                <a:spcPts val="800"/>
              </a:spcBef>
              <a:defRPr sz="1500">
                <a:solidFill>
                  <a:srgbClr val="38BDF8"/>
                </a:solidFill>
                <a:latin typeface="Arial"/>
              </a:defRPr>
            </a:pPr>
            <a:r>
              <a:t>An Explainable Multi-Marketplace Intelligence, Scoring, and Sentiment Mining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120640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STUDENT INFORMATION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Student Name:  [Student Name / Placeholder]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Register Number:  [Register Number / Placeholder]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Degree &amp; Branch:  B.Tech – Information Technology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Academic Year:  2026 –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17520"/>
            <a:ext cx="5120640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SUPERVISION &amp; INSTITUTION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Project Guide:  [Guide Name / Placeholder]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Designation:  Assistant Professor / Associate Professor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Department:  Department of Information Technology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Institution:  [College Name / Institution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8655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1018001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Online shoppers struggle with fragmented marketplaces, sponsored search bias, and fake or unverified customer reviews, leading to poor purchasing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1018001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THE TRUSTRANK SOLUTION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TrustRank aggregates multi-store data (Amazon, Flipkart, etc.) in real time, normalizes prices, extracts aspect-based review sentiments, and calculates transparent 0–100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10728655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82312"/>
            <a:ext cx="1018001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CONSUMER VALUE &amp; IMPACT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Provides verified coupon codes with 1-click copying, automatic Best Value badges, and automated price drop alerts, delivering empirical and trusted shopping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E-Commerce Landscape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Exponential rise in online shopping across multiple Indian platforms.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Consumers regularly switch between Amazon, Flipkart, Myntra, and Croma.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Manual cross-platform price comparison is tedious and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47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35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Current Challenges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Sponsored listings override true organic product relevance.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Star ratings fail to highlight specific product flaws or strengths.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Promotions and coupon codes are fragmented across the web.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74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Project Objective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Create an independent, explainable recommendation system.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Combine multi-store search, aspect sentiment mining, and transparent scoring.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 Protect consumers with verified deals and automated price drop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CURRENT PARADIGM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Existing System &amp; 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LIMITATIONS OF EXISTING SYSTEMS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 Single-Platform Silos: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Users must check each marketplace individually with no cross-platform price tracking.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 Commercial Search Bias: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Algorithms prioritize high-margin products and paid seller ads over user needs.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 Superficial Star Ratings: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Overall 4.2-star ratings hide critical issues like battery drain or overheating.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 Fake / Expired Coupons: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Coupon aggregators display invalid promotional codes causing checkout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KEY LITERATURE REVIEW FINDINGS</a:t>
            </a:r>
          </a:p>
          <a:p>
            <a:pPr>
              <a:spcBef>
                <a:spcPts val="1000"/>
              </a:spcBef>
              <a:defRPr b="1" sz="1200">
                <a:solidFill>
                  <a:srgbClr val="38BDF8"/>
                </a:solidFill>
              </a:defRPr>
            </a:pPr>
            <a:r>
              <a:t>•  Sarwar et al. (WWW 2001) – Collaborative Filtering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Analysis: Suffers from cold-start problem and catalog isolation across merchants.</a:t>
            </a:r>
          </a:p>
          <a:p>
            <a:pPr>
              <a:spcBef>
                <a:spcPts val="1000"/>
              </a:spcBef>
              <a:defRPr b="1" sz="1200">
                <a:solidFill>
                  <a:srgbClr val="38BDF8"/>
                </a:solidFill>
              </a:defRPr>
            </a:pPr>
            <a:r>
              <a:t>•  Hu &amp; Liu (ACM KDD 2004) – Customer Review Mining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Analysis: Demonstrated that aspect-based sentiment is critical for meaningful decision support.</a:t>
            </a:r>
          </a:p>
          <a:p>
            <a:pPr>
              <a:spcBef>
                <a:spcPts val="1000"/>
              </a:spcBef>
              <a:defRPr b="1" sz="1200">
                <a:solidFill>
                  <a:srgbClr val="38BDF8"/>
                </a:solidFill>
              </a:defRPr>
            </a:pPr>
            <a:r>
              <a:t>•  Mukherjee et al. (IEEE TKDE 2021) – Fake Review Detection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Analysis: Showed that text sentiment analysis is necessary to bypass manipulated star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SCOPE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Objectives of the Project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8655" cy="1005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PRIMARY OBJECTIVE</a:t>
            </a:r>
          </a:p>
          <a:p>
            <a:pPr>
              <a:spcBef>
                <a:spcPts val="400"/>
              </a:spcBef>
              <a:defRPr sz="1250" b="1">
                <a:solidFill>
                  <a:srgbClr val="F8FAFC"/>
                </a:solidFill>
              </a:defRPr>
            </a:pPr>
            <a:r>
              <a:t>To design and implement an explainable, multi-marketplace product recommendation system that integrates real-time product search, multi-factor scoring, aspect-based review analysis, and verified savings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12064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1. Multi-Marketplace Ingestion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Simultaneously retrieve products from Amazon, Flipkart, Myntra, and Croma with unified price normalization and deduplication.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51760"/>
            <a:ext cx="512064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2. Explainable TrustRank Scoring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Replace black-box rankings with transparent criteria: Requirement Match (35%), Price/Value (25%), Rating (20%), and Availability (20%).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12064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3. Aspect-Based Review Mining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Deconstruct authentic buyer feedback into explicit pros ('Why We Recommend It') and caveats ('Things to Consider').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480560"/>
            <a:ext cx="512064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4. Verified Savings &amp; Price Alerts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Provide genuine coupon codes with 1-click copying and periodic 15-minute background price drop monitoring with email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Unified Search &amp; Comparison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Searches multiple stores concurrently in a single unified interface.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Normalizes prices to INR, extracts authentic images, and aligns specifications.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Zero sponsored placements—sorting is strictly based on consumer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47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35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Transparent TrustRank Scoring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Scores products on an objective 0 to 100 scale.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Displays a clear 4-part breakdown so users know why a product ranked high.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Extracts key review highlights directly from verified customer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74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Verified Value &amp; Smart Alerts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Zero-hallucination policy: Displays only genuine discounts and active coupons.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Best Value badge highlights products offering the highest specs per rupee.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Background price checker monitors user target prices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9997135" cy="86868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81328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PRESENTATION LAYER (Client)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React 18  •  Tailwind CSS  •  Requirement Wizard  •  Product Grid  •  Review &amp; Alert Modals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999713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78608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API GATEWAY &amp; ROUTING (FastAPI)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RESTful Endpoints (/api/products, /api/coupons, /api/alerts, /api/history)  •  Pydantic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566160"/>
            <a:ext cx="9997135" cy="86868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75888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CORE INTELLIGENCE SERVICES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Intent Parsing  •  Data Normalization  •  TrustRank Scoring (0-100)  •  Review Sentiment Mining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999713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773168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DATA INGESTION &amp; STORAGE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Marketplace Providers (Amazon, Flipkart, Live Search)  •  SQLite Database (trustrank_users.db)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52160" y="2258568"/>
            <a:ext cx="45720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852160" y="3355848"/>
            <a:ext cx="45720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852160" y="4453128"/>
            <a:ext cx="45720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669280"/>
            <a:ext cx="9997135" cy="594360"/>
          </a:xfrm>
          <a:prstGeom prst="round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715000"/>
            <a:ext cx="9631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Key Architectural Feature: Non-blocking asynchronous ingestion pipeline with 18s circuit-breaker fault tolerance.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IMPLEMENTATION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Frontend Technologies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React 18:  Component-based, responsive UI library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Vite 5:  Lightning-fast frontend build tooling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Tailwind CSS:  Modern utility-first responsive styling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Lucide Icons:  Clear visual icons across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Backend Framework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Python 3.13:  Modern asynchronous core runtime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FastAPI:  High-throughput ASGI web framework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Pydantic v2:  Strict data schemas and validation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Uvicorn:  Production ASGI application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Data &amp; Sentiment NLP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BeautifulSoup4:  HTML web scraping and parsing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HTTPX:  Asynchronous HTTP external data requests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TextBlob NLP:  Sentiment polarity and subjectivity analysis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Regex Engine:  Pattern extraction for coupons and 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Storage &amp; Quality Assurance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SQLite 3:  Relational database for users and alerts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Pytest:  Unit testing framework (20/20 tests passing)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Git / GitHub:  Version control and remote backup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 SMTP Dispatcher:  Automated email notification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FUNCTIONAL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Module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9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6B6D4"/>
                </a:solidFill>
              </a:defRPr>
            </a:pPr>
            <a:r>
              <a:t>1. Multi-Marketplace Search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Queries Amazon, Flipkart, Myntra, and Croma simultaneously in parallel, normalizing disparate price and image formats into a single standard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8BDF8"/>
                </a:solidFill>
              </a:defRPr>
            </a:pPr>
            <a:r>
              <a:t>2. TrustRank Scoring Engine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Executes the 4-factor formula (Requirement 35%, Price 25%, Rating 20%, Stock 20%) to rank products objectively on a 0–100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10B981"/>
                </a:solidFill>
              </a:defRPr>
            </a:pPr>
            <a:r>
              <a:t>3. Aspect-Based Review Analysis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Extracts real customer sentiment, highlighting positive features ('Why We Recommend It') and caveats ('Things to Consider').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59E0B"/>
                </a:solidFill>
              </a:defRPr>
            </a:pPr>
            <a:r>
              <a:t>4. Coupons &amp; Best Value Finder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Extracts authentic promotional deals, offers 1-click coupon code copying, and tags top price-to-performance products.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6B6D4"/>
                </a:solidFill>
              </a:defRPr>
            </a:pPr>
            <a:r>
              <a:t>5. Price Drop Alerts &amp; User Profile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Allows users to set target price thresholds, runs 15-minute background price checks, and stores research history in SQLite.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10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118872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8132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8FAFC"/>
                </a:solidFill>
              </a:defRPr>
            </a:pPr>
            <a:r>
              <a:t>Step 1: User Input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</a:defRPr>
            </a:pPr>
            <a:r>
              <a:t>User submits query or specifies preferences via the interactive Requirement Wizard.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18872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4144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8FAFC"/>
                </a:solidFill>
              </a:defRPr>
            </a:pPr>
            <a:r>
              <a:t>Step 2: Concurrent Ingestion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</a:defRPr>
            </a:pPr>
            <a:r>
              <a:t>FastAPI dispatches non-blocking queries to marketplace data providers concurrently.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0156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8FAFC"/>
                </a:solidFill>
              </a:defRPr>
            </a:pPr>
            <a:r>
              <a:t>Step 3: Normalization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</a:defRPr>
            </a:pPr>
            <a:r>
              <a:t>System cleans data, converts currency to INR, resolves image fallbacks, and removes duplicates.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434840"/>
            <a:ext cx="11887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36168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8FAFC"/>
                </a:solidFill>
              </a:defRPr>
            </a:pPr>
            <a:r>
              <a:t>Step 4: TrustRank Scoring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</a:defRPr>
            </a:pPr>
            <a:r>
              <a:t>Computes multi-factor scores (0-100) and extracts aspect-based review sentiments.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394960"/>
            <a:ext cx="118872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PHASE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2180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F8FAFC"/>
                </a:solidFill>
              </a:defRPr>
            </a:pPr>
            <a:r>
              <a:t>Step 5: Value &amp; Alerts</a:t>
            </a:r>
          </a:p>
          <a:p>
            <a:pPr>
              <a:spcBef>
                <a:spcPts val="200"/>
              </a:spcBef>
              <a:defRPr sz="1150">
                <a:solidFill>
                  <a:srgbClr val="CBD5E1"/>
                </a:solidFill>
              </a:defRPr>
            </a:pPr>
            <a:r>
              <a:t>Displays ranked cards, Best Value tags, verified coupon copy options, and price drop tracker.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Results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11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Cross-Store Normalization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Successfully merges products from Amazon, Flipkart, Myntra, and Croma.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Achieves 100% price and currency standardization in Indian Rupees (INR).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Eliminates duplicate listings across vendors without losing spec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47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35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Score Transparency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Every recommended item shows a clear 4-part score breakdown.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Prevents expensive sponsored products from dominating the recommendations.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Users can clearly see why an item is ranked #1 vs #2.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74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Verified Data Integrity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Zero hallucination: Only real discounts and verified coupon codes are shown.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Background price alerts trigger strictly when verified price &lt;= target price.</a:t>
            </a:r>
          </a:p>
          <a:p>
            <a:pPr>
              <a:spcBef>
                <a:spcPts val="1400"/>
              </a:spcBef>
              <a:defRPr sz="1250">
                <a:solidFill>
                  <a:srgbClr val="F8FAFC"/>
                </a:solidFill>
              </a:defRPr>
            </a:pPr>
            <a:r>
              <a:t>•  In-memory caching delivers featured deals in under 50 milliseconds.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Application Screenshots &amp; Interface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422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1. Interactive Home &amp; Search Wizard</a:t>
            </a:r>
          </a:p>
        </p:txBody>
      </p:sp>
      <p:pic>
        <p:nvPicPr>
          <p:cNvPr id="9" name="Picture 8" descr="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237744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Features: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Dynamic requirement wizard with budget sliders and category filters.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Status: Verified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422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2. Recommendation Cards &amp; Scoring</a:t>
            </a:r>
          </a:p>
        </p:txBody>
      </p:sp>
      <p:pic>
        <p:nvPicPr>
          <p:cNvPr id="13" name="Picture 12" descr="review_dashboard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237744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15400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Features: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Ranked products displaying transparent 4-part score and Best Value badges.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Status: Verified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52422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95928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3. Aspect-Based Review Dashboard</a:t>
            </a:r>
          </a:p>
        </p:txBody>
      </p:sp>
      <p:pic>
        <p:nvPicPr>
          <p:cNvPr id="17" name="Picture 16" descr="review_analysis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2377440" cy="1371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29000" y="43434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Features: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Aspect sentiment modal showing pros, cons, and sentiment ratios.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Status: Verified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2422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95928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4. Coupons &amp; Price Drop Alert Hub</a:t>
            </a:r>
          </a:p>
        </p:txBody>
      </p:sp>
      <p:pic>
        <p:nvPicPr>
          <p:cNvPr id="21" name="Picture 20" descr="coupons_dashboard_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400"/>
            <a:ext cx="2377440" cy="1371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15400" y="43434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Features: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Verified marketplace coupons with 1-click copy and alert tracking.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Status: Verified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Testing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Automated Unit Testing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20/20 test cases passing in the backend Pytest suite.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test_alert_service: Validates alert lifecycle and price drop threshold triggers.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test_best_value_finder: Verifies price-to-specification ratio calculations.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test_history &amp; test_auth: Confirms secure PBKDF2 hashing and research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47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35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Fault Tolerance &amp; Error Handling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18-second circuit breaker prevents system hangs when marketplace APIs are slow.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Graceful handling of missing API credentials without crashing backend.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Automatic fallback for missing product images and unverified prices.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7420" y="1463040"/>
            <a:ext cx="347472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Build &amp; Data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Frontend compiled cleanly with Vite (1,416 modules, 3.66s, zero errors).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Zero fake coupon codes generated; strict regex and blacklist validation.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Clipboard copy API verified with visual 'Copied!' user confirmation.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and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PROJECT WORK CONCLUSION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Impartial E-Commerce Decision Support: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TrustRank eliminates commercial bias by evaluating products purely on merit and user fit.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Explainable &amp; Transparent: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Provides explicit 4-part score breakdowns and real customer pros/cons instead of opaque rankings.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Authentic Savings &amp; Alerts: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Protects consumers with verified coupons and automated background price drop alerts.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Robust Modern Architecture: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Built on production-ready FastAPI and React 18 with 100% passing test suites.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FUTURE ENHANCEMENTS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Conversational LLM Assistant: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Add a fine-tuned generative AI shopping assistant for interactive conversational advice.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Mobile App (Android / iOS):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Develop Flutter or React Native mobile applications with real-time push notifications.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Chrome Browser Extension: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Automatically show TrustRank score and price comparisons while browsing retail sites.</a:t>
            </a:r>
          </a:p>
          <a:p>
            <a:pPr>
              <a:spcBef>
                <a:spcPts val="1000"/>
              </a:spcBef>
              <a:defRPr b="1" sz="1250">
                <a:solidFill>
                  <a:srgbClr val="F8FAFC"/>
                </a:solidFill>
              </a:defRPr>
            </a:pPr>
            <a:r>
              <a:t>•  Dynamic Bank Card Discount Engine: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Calculate instant discounts for specific bank credit/debit cards during checkout.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ACADEMIC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STANDARD IEEE-FORMAT ACADEMIC REFERENCES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[1] B. Sarwar, G. Karypis, J. Konstan, and J. Riedl, "Item-based collaborative filtering recommendation algorithms," in Proc. 10th Int. Conf. World Wide Web (WWW), 2001, pp. 285–295.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[2] M. Hu and B. Liu, "Mining and summarizing customer reviews," in Proc. ACM SIGKDD Int. Conf. Knowledge Discovery and Data Mining (KDD), 2004, pp. 168–177.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[3] X. He, L. Liao, H. Zhang, L. Nie, X. Hu, and T.-S. Chua, "Neural collaborative filtering," in Proc. 26th Int. Conf. World Wide Web (WWW), 2017, pp. 173–182.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[4] S. Mukherjee, G. Weikum, and B. Liu, "Detecting fake reviews using aspect sentiment patterns and behavioral distributions," IEEE Trans. Knowl. Data Eng. (TKDE), vol. 33, no. 8, pp. 3012–3025, 2021.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[5] J. McAuley, C. Targett, Q. Shi, and A. van den Hengel, "Image-based recommendations on styles and substitutes," in Proc. 38th ACM SIGIR Conf. Research and Development in Information Retrieval, 2015, pp. 43–52.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[6] FastAPI Framework Documentation, "High-performance asynchronous web framework for Python based on standard type hints," tiangolo/fastapi, 2024. [Online]. Available: https://fastapi.tiangolo.com/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DISCLOSURES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Publication / Patent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TrustRank: E-Commerce Recommendation &amp; Review Analysis System   |   B.Tech IT Final Year Project   |   Slide 16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RESEARCH PUBLICATION STATUS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Paper Title:</a:t>
            </a:r>
          </a:p>
          <a:p>
            <a:pPr>
              <a:defRPr sz="1150">
                <a:solidFill>
                  <a:srgbClr val="38BDF8"/>
                </a:solidFill>
              </a:defRPr>
            </a:pPr>
            <a:r>
              <a:t>   "TrustRank: An Explainable Multi-Marketplace Product Recommendation Framework with Aspect-Based Sentiment Mining"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Current Status: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Manuscript under preparation / institutional review.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Target Venue: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IEEE / Springer International Conference on Information Technology and Computer Systems.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Authorship: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[Student Name / Placeholder], [Project Guide Name / Placeholder], Department of Information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INTELLECTUAL PROPERTY &amp; PATENT STATUS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Patent Filing Status: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No patent filed.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Project Nature: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Developed as an academic engineering research prototype for the B.Tech Information Technology curriculum.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Open-Source Academic License: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Intended for open research and transparent benchmarking of consumer recommendation models.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Data Ethics &amp; Integrity: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 Complies with public web indexing standards. Strictly adheres to zero fabricated pricing or coupon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